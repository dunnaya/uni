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71416ed0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71416ed0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71416ed0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71416ed0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71416ed0b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71416ed0b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71416ed0b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71416ed0b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8516bc42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8516bc42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8516bc42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8516bc42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8516bc42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8516bc42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8516bc42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e8516bc42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8516bc42f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8516bc42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310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latin typeface="Times New Roman"/>
                <a:ea typeface="Times New Roman"/>
                <a:cs typeface="Times New Roman"/>
                <a:sym typeface="Times New Roman"/>
              </a:rPr>
              <a:t>РОЗРОБКА ВЕБСИСТЕМИ ДЛЯ АВТОМАТИЗОВАНОГО ОБЛІКУ, АНАЛІЗУ ТА ПРОГНОЗУВАННЯ ВИТРАТ НА ЦИФРОВІ ПІДПИСКИ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94" y="3050797"/>
            <a:ext cx="3773400" cy="12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uk" sz="1400">
                <a:latin typeface="Times New Roman"/>
                <a:ea typeface="Times New Roman"/>
                <a:cs typeface="Times New Roman"/>
                <a:sym typeface="Times New Roman"/>
              </a:rPr>
              <a:t>Виконала студентка 3-го курсу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uk" sz="1400">
                <a:latin typeface="Times New Roman"/>
                <a:ea typeface="Times New Roman"/>
                <a:cs typeface="Times New Roman"/>
                <a:sym typeface="Times New Roman"/>
              </a:rPr>
              <a:t>ОПП «Програмна інженерія»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uk" sz="1400">
                <a:latin typeface="Times New Roman"/>
                <a:ea typeface="Times New Roman"/>
                <a:cs typeface="Times New Roman"/>
                <a:sym typeface="Times New Roman"/>
              </a:rPr>
              <a:t>Сенечко Дана </a:t>
            </a:r>
            <a:r>
              <a:rPr lang="uk" sz="1400">
                <a:latin typeface="Times New Roman"/>
                <a:ea typeface="Times New Roman"/>
                <a:cs typeface="Times New Roman"/>
                <a:sym typeface="Times New Roman"/>
              </a:rPr>
              <a:t>Володимирівна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31950" y="182525"/>
            <a:ext cx="7280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КИЇВСЬКИЙ НАЦІОНАЛЬНИЙ УНІВЕРСИТЕТ ІМЕНІ ТАРАСА ШЕВЧЕНКА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931950" y="437175"/>
            <a:ext cx="72801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Факультет компʼютерних наук та кібернетики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 інтелектуальних програмних систем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31950" y="1382025"/>
            <a:ext cx="72801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Курсова робота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тему: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598100" y="3947275"/>
            <a:ext cx="47685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uk" sz="1400">
                <a:latin typeface="Times New Roman"/>
                <a:ea typeface="Times New Roman"/>
                <a:cs typeface="Times New Roman"/>
                <a:sym typeface="Times New Roman"/>
              </a:rPr>
              <a:t>Науковий керівник: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uk" sz="1400">
                <a:latin typeface="Times New Roman"/>
                <a:ea typeface="Times New Roman"/>
                <a:cs typeface="Times New Roman"/>
                <a:sym typeface="Times New Roman"/>
              </a:rPr>
              <a:t>асистент кафедри інтелектуальних програмних систем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uk" sz="1400">
                <a:latin typeface="Times New Roman"/>
                <a:ea typeface="Times New Roman"/>
                <a:cs typeface="Times New Roman"/>
                <a:sym typeface="Times New Roman"/>
              </a:rPr>
              <a:t>доктор філософії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uk" sz="1400">
                <a:latin typeface="Times New Roman"/>
                <a:ea typeface="Times New Roman"/>
                <a:cs typeface="Times New Roman"/>
                <a:sym typeface="Times New Roman"/>
              </a:rPr>
              <a:t>Ількун Олександр Петрович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11700" y="1093988"/>
            <a:ext cx="2748300" cy="1625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rgbClr val="A4C2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$623 млрд</a:t>
            </a:r>
            <a:endParaRPr b="1" sz="2000">
              <a:solidFill>
                <a:srgbClr val="A4C2F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обсяг глобального ринку підписок у 2025 р. (Research and Markets)</a:t>
            </a:r>
            <a:endParaRPr sz="12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/>
          <p:nvPr>
            <p:ph idx="2" type="body"/>
          </p:nvPr>
        </p:nvSpPr>
        <p:spPr>
          <a:xfrm>
            <a:off x="311700" y="2987450"/>
            <a:ext cx="8520600" cy="918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Проблема: ручні трекери (Bobby, Subby) не мають автодетекції підписок. Автоматичні (Rocket Money, Monarch Money) підключаються через Plaid, який підтримує лише банки США і Канади. Для України безкоштовного спеціалізованого рішення немає.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3197850" y="1093988"/>
            <a:ext cx="2748300" cy="1625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6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b="1" lang="uk" sz="20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</a:t>
            </a:r>
            <a:endParaRPr b="1" sz="20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 стільки разів більше витрачают</a:t>
            </a:r>
            <a:r>
              <a:rPr lang="uk" sz="1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ь;</a:t>
            </a:r>
            <a:r>
              <a:rPr lang="uk" sz="1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очікують $86/міс, реально </a:t>
            </a:r>
            <a:r>
              <a:rPr lang="uk" sz="1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$219/міс (C+R Research)</a:t>
            </a:r>
            <a:endParaRPr sz="12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6084000" y="1093988"/>
            <a:ext cx="2748300" cy="1625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rgbClr val="93C4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89%</a:t>
            </a:r>
            <a:endParaRPr b="1" sz="2000">
              <a:solidFill>
                <a:srgbClr val="93C4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споживачів систематично недооцінюють власні витрати</a:t>
            </a:r>
            <a:endParaRPr sz="12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4"/>
          <p:cNvSpPr txBox="1"/>
          <p:nvPr>
            <p:ph idx="2" type="body"/>
          </p:nvPr>
        </p:nvSpPr>
        <p:spPr>
          <a:xfrm>
            <a:off x="311700" y="4029175"/>
            <a:ext cx="8520600" cy="773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Мета: проєктування та реалізація вебсистеми обліку підписок з автоматичною детекцією через Monobank API, імпортом виписок у форматах CSV/XLS/XLSX та системою сповіщень через Telegram-бота.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0" y="0"/>
            <a:ext cx="9144000" cy="818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Актуальність та мета роботи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D6CC9"/>
            </a:gs>
            <a:gs pos="100000">
              <a:srgbClr val="2F397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0" y="0"/>
            <a:ext cx="9144000" cy="818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Аналіз існуючих рішень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311700" y="960838"/>
            <a:ext cx="1995000" cy="345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Критерій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5"/>
          <p:cNvSpPr txBox="1"/>
          <p:nvPr>
            <p:ph idx="2" type="body"/>
          </p:nvPr>
        </p:nvSpPr>
        <p:spPr>
          <a:xfrm>
            <a:off x="311700" y="4408725"/>
            <a:ext cx="8520600" cy="4461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Перший клас не має автодетекції, другий — не підтримує українські банки та є платним.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2399700" y="960838"/>
            <a:ext cx="1995000" cy="345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uk" sz="121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Bobby/Subby</a:t>
            </a:r>
            <a:endParaRPr sz="121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4487700" y="960838"/>
            <a:ext cx="1995000" cy="345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Rocket Money/Pocket Guard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6575700" y="960838"/>
            <a:ext cx="2256600" cy="345900"/>
          </a:xfrm>
          <a:prstGeom prst="rect">
            <a:avLst/>
          </a:prstGeom>
          <a:solidFill>
            <a:srgbClr val="134F5C"/>
          </a:solidFill>
          <a:ln cap="flat" cmpd="sng" w="9525">
            <a:solidFill>
              <a:srgbClr val="0C34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Розроблена система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311700" y="1351838"/>
            <a:ext cx="1995000" cy="51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uk" sz="12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Автоматична детекція підписок</a:t>
            </a:r>
            <a:endParaRPr sz="12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2399700" y="1351838"/>
            <a:ext cx="1995000" cy="51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✗</a:t>
            </a:r>
            <a:endParaRPr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4487700" y="1351838"/>
            <a:ext cx="1995000" cy="51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6575700" y="1351838"/>
            <a:ext cx="2256600" cy="518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</a:t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5"/>
          <p:cNvSpPr txBox="1"/>
          <p:nvPr>
            <p:ph idx="1" type="body"/>
          </p:nvPr>
        </p:nvSpPr>
        <p:spPr>
          <a:xfrm>
            <a:off x="311700" y="1950688"/>
            <a:ext cx="1995000" cy="518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Підтримка UAH / українських банків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5"/>
          <p:cNvSpPr txBox="1"/>
          <p:nvPr>
            <p:ph idx="1" type="body"/>
          </p:nvPr>
        </p:nvSpPr>
        <p:spPr>
          <a:xfrm>
            <a:off x="2399700" y="1950688"/>
            <a:ext cx="1995000" cy="518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4487700" y="1950688"/>
            <a:ext cx="1995000" cy="518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✗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575700" y="1950688"/>
            <a:ext cx="2256600" cy="518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</a:t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311700" y="2549538"/>
            <a:ext cx="1995000" cy="51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Безкоштовно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2399700" y="2549538"/>
            <a:ext cx="1995000" cy="51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</a:t>
            </a:r>
            <a:r>
              <a:rPr lang="uk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uk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</a:t>
            </a:r>
            <a:r>
              <a:rPr lang="uk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частково</a:t>
            </a:r>
            <a:endParaRPr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4487700" y="2549538"/>
            <a:ext cx="1995000" cy="51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✗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6575700" y="2549538"/>
            <a:ext cx="2256600" cy="518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</a:t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5"/>
          <p:cNvSpPr txBox="1"/>
          <p:nvPr>
            <p:ph idx="1" type="body"/>
          </p:nvPr>
        </p:nvSpPr>
        <p:spPr>
          <a:xfrm>
            <a:off x="311700" y="3148388"/>
            <a:ext cx="1995000" cy="518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Ручний облік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2399700" y="3148388"/>
            <a:ext cx="1995000" cy="518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5"/>
          <p:cNvSpPr txBox="1"/>
          <p:nvPr>
            <p:ph idx="1" type="body"/>
          </p:nvPr>
        </p:nvSpPr>
        <p:spPr>
          <a:xfrm>
            <a:off x="4487700" y="3148388"/>
            <a:ext cx="1995000" cy="518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✗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6575700" y="3148388"/>
            <a:ext cx="2256600" cy="518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</a:t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311700" y="3747238"/>
            <a:ext cx="1995000" cy="51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Telegram-сповіщення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5"/>
          <p:cNvSpPr txBox="1"/>
          <p:nvPr>
            <p:ph idx="1" type="body"/>
          </p:nvPr>
        </p:nvSpPr>
        <p:spPr>
          <a:xfrm>
            <a:off x="2399700" y="3747238"/>
            <a:ext cx="1995000" cy="51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✗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5"/>
          <p:cNvSpPr txBox="1"/>
          <p:nvPr>
            <p:ph idx="1" type="body"/>
          </p:nvPr>
        </p:nvSpPr>
        <p:spPr>
          <a:xfrm>
            <a:off x="4487700" y="3747238"/>
            <a:ext cx="1995000" cy="51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✗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6575700" y="3747238"/>
            <a:ext cx="2256600" cy="518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</a:t>
            </a:r>
            <a:endParaRPr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idx="1" type="body"/>
          </p:nvPr>
        </p:nvSpPr>
        <p:spPr>
          <a:xfrm>
            <a:off x="311725" y="1319038"/>
            <a:ext cx="1957800" cy="492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6"/>
          <p:cNvSpPr txBox="1"/>
          <p:nvPr>
            <p:ph idx="2" type="body"/>
          </p:nvPr>
        </p:nvSpPr>
        <p:spPr>
          <a:xfrm>
            <a:off x="311700" y="4197175"/>
            <a:ext cx="8520600" cy="5277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Один процес: HTTP</a:t>
            </a:r>
            <a:r>
              <a:rPr b="1"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</a:t>
            </a:r>
            <a:r>
              <a:rPr b="1"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статичний SPA</a:t>
            </a:r>
            <a:r>
              <a:rPr b="1"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Telegram-бот (long polling)</a:t>
            </a:r>
            <a:r>
              <a:rPr b="1"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cron-планувальник (09:00 щодня)</a:t>
            </a:r>
            <a:r>
              <a:rPr b="1"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Railway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6"/>
          <p:cNvSpPr txBox="1"/>
          <p:nvPr>
            <p:ph type="title"/>
          </p:nvPr>
        </p:nvSpPr>
        <p:spPr>
          <a:xfrm>
            <a:off x="0" y="0"/>
            <a:ext cx="9144000" cy="818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Технологічний стек та архітектура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6"/>
          <p:cNvSpPr txBox="1"/>
          <p:nvPr>
            <p:ph idx="1" type="body"/>
          </p:nvPr>
        </p:nvSpPr>
        <p:spPr>
          <a:xfrm>
            <a:off x="2389450" y="1319025"/>
            <a:ext cx="1957800" cy="492900"/>
          </a:xfrm>
          <a:prstGeom prst="rect">
            <a:avLst/>
          </a:prstGeom>
          <a:solidFill>
            <a:srgbClr val="6AA84F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6"/>
          <p:cNvSpPr txBox="1"/>
          <p:nvPr>
            <p:ph idx="1" type="body"/>
          </p:nvPr>
        </p:nvSpPr>
        <p:spPr>
          <a:xfrm>
            <a:off x="4724975" y="1319038"/>
            <a:ext cx="4107300" cy="527700"/>
          </a:xfrm>
          <a:prstGeom prst="rect">
            <a:avLst/>
          </a:prstGeom>
          <a:solidFill>
            <a:srgbClr val="A4C2F4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Клієнт (SPA)</a:t>
            </a:r>
            <a:r>
              <a:rPr i="1" lang="uk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i="1" lang="uk" sz="1200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/ CSS / JS</a:t>
            </a:r>
            <a:endParaRPr i="1" sz="1200">
              <a:solidFill>
                <a:srgbClr val="D9D9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6"/>
          <p:cNvSpPr txBox="1"/>
          <p:nvPr>
            <p:ph idx="1" type="body"/>
          </p:nvPr>
        </p:nvSpPr>
        <p:spPr>
          <a:xfrm>
            <a:off x="4724975" y="1978279"/>
            <a:ext cx="4107300" cy="5277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Routes</a:t>
            </a: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</a:t>
            </a:r>
            <a:r>
              <a:rPr i="1" lang="uk" sz="12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маршрути — 17 ендпоінтів</a:t>
            </a:r>
            <a:endParaRPr i="1" sz="1200">
              <a:solidFill>
                <a:srgbClr val="CCCC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6"/>
          <p:cNvSpPr txBox="1"/>
          <p:nvPr>
            <p:ph idx="1" type="body"/>
          </p:nvPr>
        </p:nvSpPr>
        <p:spPr>
          <a:xfrm>
            <a:off x="4724975" y="2637521"/>
            <a:ext cx="4107300" cy="527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Controllers + Services</a:t>
            </a: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i="1" lang="uk" sz="12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Бізнес логіка та обробка даних</a:t>
            </a:r>
            <a:endParaRPr i="1" sz="12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6"/>
          <p:cNvSpPr txBox="1"/>
          <p:nvPr>
            <p:ph idx="1" type="body"/>
          </p:nvPr>
        </p:nvSpPr>
        <p:spPr>
          <a:xfrm>
            <a:off x="4724975" y="3296762"/>
            <a:ext cx="4107300" cy="527700"/>
          </a:xfrm>
          <a:prstGeom prst="rect">
            <a:avLst/>
          </a:prstGeom>
          <a:solidFill>
            <a:srgbClr val="6AA84F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(Mongoose)</a:t>
            </a: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i="1" lang="uk" sz="12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</a:t>
            </a:r>
            <a:r>
              <a:rPr b="1" i="1" lang="uk" sz="12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i="1" lang="uk" sz="12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</a:t>
            </a:r>
            <a:r>
              <a:rPr b="1" i="1" lang="uk" sz="12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i="1" lang="uk" sz="12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</a:t>
            </a:r>
            <a:endParaRPr i="1" sz="1200">
              <a:solidFill>
                <a:srgbClr val="CCCC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6"/>
          <p:cNvSpPr txBox="1"/>
          <p:nvPr>
            <p:ph idx="1" type="body"/>
          </p:nvPr>
        </p:nvSpPr>
        <p:spPr>
          <a:xfrm>
            <a:off x="311725" y="1934688"/>
            <a:ext cx="1957800" cy="492900"/>
          </a:xfrm>
          <a:prstGeom prst="rect">
            <a:avLst/>
          </a:prstGeom>
          <a:solidFill>
            <a:srgbClr val="000000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6"/>
          <p:cNvSpPr txBox="1"/>
          <p:nvPr>
            <p:ph idx="1" type="body"/>
          </p:nvPr>
        </p:nvSpPr>
        <p:spPr>
          <a:xfrm>
            <a:off x="2389450" y="1934675"/>
            <a:ext cx="1957800" cy="492900"/>
          </a:xfrm>
          <a:prstGeom prst="rect">
            <a:avLst/>
          </a:prstGeom>
          <a:solidFill>
            <a:srgbClr val="6AA84F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+ Mongoose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311725" y="2550338"/>
            <a:ext cx="1957800" cy="492900"/>
          </a:xfrm>
          <a:prstGeom prst="rect">
            <a:avLst/>
          </a:prstGeom>
          <a:solidFill>
            <a:srgbClr val="E69138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HTML5 / CSS3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2389450" y="2550325"/>
            <a:ext cx="1957800" cy="4929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Telegraf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311725" y="918825"/>
            <a:ext cx="4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Технологічний стек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724975" y="918825"/>
            <a:ext cx="4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Тришарова архітектура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8B8DF"/>
            </a:gs>
            <a:gs pos="100000">
              <a:srgbClr val="516DB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311700" y="1094016"/>
            <a:ext cx="2748300" cy="3658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Лише витрати (відʼємна сума)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MCC коди: 5815, 5817, 7372, 4816…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Назви сервісів: Netflix, Spotify, YouTube, Apple, Google…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Виключення посередників (Steam, Epic Games…) та платежів, повернутих за 48 год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7"/>
          <p:cNvSpPr txBox="1"/>
          <p:nvPr>
            <p:ph type="title"/>
          </p:nvPr>
        </p:nvSpPr>
        <p:spPr>
          <a:xfrm>
            <a:off x="0" y="0"/>
            <a:ext cx="9144000" cy="818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 автоматичної детекції підписок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7"/>
          <p:cNvSpPr txBox="1"/>
          <p:nvPr>
            <p:ph type="title"/>
          </p:nvPr>
        </p:nvSpPr>
        <p:spPr>
          <a:xfrm>
            <a:off x="311700" y="1094025"/>
            <a:ext cx="2748300" cy="5802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Фільтрація і групування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3197850" y="1094016"/>
            <a:ext cx="2748300" cy="3658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Середнє арифметичне різниць дат між транзакціями групи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9 днів — weekly; 9-100 днів — monthly; 100-400 днів — yearly; &gt; 400 днів — custom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Відомий сервіс з однією транзакцією — monthly за замовчуванням</a:t>
            </a:r>
            <a:endParaRPr sz="12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7"/>
          <p:cNvSpPr txBox="1"/>
          <p:nvPr>
            <p:ph type="title"/>
          </p:nvPr>
        </p:nvSpPr>
        <p:spPr>
          <a:xfrm>
            <a:off x="3197850" y="1094025"/>
            <a:ext cx="2748300" cy="580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Аналіз інтервалів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6084000" y="1094016"/>
            <a:ext cx="2748300" cy="3658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Перевірка дубліката: збіг назви, ±10% збіг суми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Нова — source: monobank / csv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nextBillingDate привʼязується до дня місяця найстарішої транзакції (запобігає зміщенню)</a:t>
            </a:r>
            <a:endParaRPr sz="12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7"/>
          <p:cNvSpPr txBox="1"/>
          <p:nvPr>
            <p:ph type="title"/>
          </p:nvPr>
        </p:nvSpPr>
        <p:spPr>
          <a:xfrm>
            <a:off x="6084000" y="1094025"/>
            <a:ext cx="2748300" cy="5802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Збереження результатів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362750" y="1156275"/>
            <a:ext cx="455700" cy="455700"/>
          </a:xfrm>
          <a:prstGeom prst="flowChartConnec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362750" y="1153275"/>
            <a:ext cx="4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3223375" y="1156275"/>
            <a:ext cx="455700" cy="455700"/>
          </a:xfrm>
          <a:prstGeom prst="flowChartConnec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128900" y="1156275"/>
            <a:ext cx="455700" cy="455700"/>
          </a:xfrm>
          <a:prstGeom prst="flowChartConnec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3223375" y="1153275"/>
            <a:ext cx="4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6128900" y="1153275"/>
            <a:ext cx="4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311725" y="1319051"/>
            <a:ext cx="1390500" cy="459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/auth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8"/>
          <p:cNvSpPr txBox="1"/>
          <p:nvPr>
            <p:ph idx="2" type="body"/>
          </p:nvPr>
        </p:nvSpPr>
        <p:spPr>
          <a:xfrm>
            <a:off x="311700" y="4197175"/>
            <a:ext cx="4260300" cy="4599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 auth — validate — controller — errorHandler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8"/>
          <p:cNvSpPr txBox="1"/>
          <p:nvPr>
            <p:ph type="title"/>
          </p:nvPr>
        </p:nvSpPr>
        <p:spPr>
          <a:xfrm>
            <a:off x="0" y="0"/>
            <a:ext cx="9144000" cy="818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API та структура бази даних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311725" y="918825"/>
            <a:ext cx="4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маршрутів у 5 групах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4724975" y="918825"/>
            <a:ext cx="4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колекції MongoDB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4840325" y="1682925"/>
            <a:ext cx="3992100" cy="72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passwordHash (bcrypt) 	</a:t>
            </a: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monobankToken (AES-256)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tokenVersion (відкликання JWT)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8"/>
          <p:cNvSpPr txBox="1"/>
          <p:nvPr>
            <p:ph type="title"/>
          </p:nvPr>
        </p:nvSpPr>
        <p:spPr>
          <a:xfrm>
            <a:off x="4840325" y="1319025"/>
            <a:ext cx="3992100" cy="3639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User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4886850" y="1353975"/>
            <a:ext cx="294000" cy="294000"/>
          </a:xfrm>
          <a:prstGeom prst="flowChartConnec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4851900" y="1300875"/>
            <a:ext cx="36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8"/>
          <p:cNvSpPr txBox="1"/>
          <p:nvPr>
            <p:ph idx="1" type="body"/>
          </p:nvPr>
        </p:nvSpPr>
        <p:spPr>
          <a:xfrm>
            <a:off x="4840325" y="2791875"/>
            <a:ext cx="3992100" cy="72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billingCycle, nextBillingDate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source: manual/monobank/csv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8"/>
          <p:cNvSpPr txBox="1"/>
          <p:nvPr>
            <p:ph type="title"/>
          </p:nvPr>
        </p:nvSpPr>
        <p:spPr>
          <a:xfrm>
            <a:off x="4840325" y="2427975"/>
            <a:ext cx="3992100" cy="3639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Subscription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4886850" y="2462925"/>
            <a:ext cx="294000" cy="294000"/>
          </a:xfrm>
          <a:prstGeom prst="flowChartConnec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4851900" y="2409825"/>
            <a:ext cx="36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8"/>
          <p:cNvSpPr txBox="1"/>
          <p:nvPr>
            <p:ph idx="1" type="body"/>
          </p:nvPr>
        </p:nvSpPr>
        <p:spPr>
          <a:xfrm>
            <a:off x="4840325" y="3918975"/>
            <a:ext cx="3992100" cy="72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externalId (sparse-індекс) 	</a:t>
            </a: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amount, mcc, description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MD5-хеш для дедуплікації CSV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8"/>
          <p:cNvSpPr txBox="1"/>
          <p:nvPr>
            <p:ph type="title"/>
          </p:nvPr>
        </p:nvSpPr>
        <p:spPr>
          <a:xfrm>
            <a:off x="4840325" y="3555075"/>
            <a:ext cx="3992100" cy="363900"/>
          </a:xfrm>
          <a:prstGeom prst="rect">
            <a:avLst/>
          </a:prstGeom>
          <a:solidFill>
            <a:srgbClr val="6AA84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Transaction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4886850" y="3590025"/>
            <a:ext cx="294000" cy="294000"/>
          </a:xfrm>
          <a:prstGeom prst="flowChartConnec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4851900" y="3536925"/>
            <a:ext cx="36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8"/>
          <p:cNvSpPr txBox="1"/>
          <p:nvPr>
            <p:ph idx="1" type="body"/>
          </p:nvPr>
        </p:nvSpPr>
        <p:spPr>
          <a:xfrm>
            <a:off x="311725" y="1864387"/>
            <a:ext cx="1390500" cy="4599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/subscriptions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8"/>
          <p:cNvSpPr txBox="1"/>
          <p:nvPr>
            <p:ph idx="1" type="body"/>
          </p:nvPr>
        </p:nvSpPr>
        <p:spPr>
          <a:xfrm>
            <a:off x="311725" y="2409722"/>
            <a:ext cx="1390500" cy="4599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/monobank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8"/>
          <p:cNvSpPr txBox="1"/>
          <p:nvPr>
            <p:ph idx="1" type="body"/>
          </p:nvPr>
        </p:nvSpPr>
        <p:spPr>
          <a:xfrm>
            <a:off x="311725" y="2955058"/>
            <a:ext cx="1390500" cy="459900"/>
          </a:xfrm>
          <a:prstGeom prst="rect">
            <a:avLst/>
          </a:prstGeom>
          <a:solidFill>
            <a:srgbClr val="E69138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/import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8"/>
          <p:cNvSpPr txBox="1"/>
          <p:nvPr>
            <p:ph idx="1" type="body"/>
          </p:nvPr>
        </p:nvSpPr>
        <p:spPr>
          <a:xfrm>
            <a:off x="311725" y="3500394"/>
            <a:ext cx="1390500" cy="459900"/>
          </a:xfrm>
          <a:prstGeom prst="rect">
            <a:avLst/>
          </a:prstGeom>
          <a:solidFill>
            <a:srgbClr val="6AA84F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/forecast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8"/>
          <p:cNvSpPr txBox="1"/>
          <p:nvPr>
            <p:ph idx="1" type="body"/>
          </p:nvPr>
        </p:nvSpPr>
        <p:spPr>
          <a:xfrm>
            <a:off x="1702225" y="1319025"/>
            <a:ext cx="2869800" cy="45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Реєстрація, вхід, JWT, відкликання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8"/>
          <p:cNvSpPr txBox="1"/>
          <p:nvPr>
            <p:ph idx="1" type="body"/>
          </p:nvPr>
        </p:nvSpPr>
        <p:spPr>
          <a:xfrm>
            <a:off x="1702225" y="1864375"/>
            <a:ext cx="2869800" cy="45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CRUD + toggle статусу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8"/>
          <p:cNvSpPr txBox="1"/>
          <p:nvPr>
            <p:ph idx="1" type="body"/>
          </p:nvPr>
        </p:nvSpPr>
        <p:spPr>
          <a:xfrm>
            <a:off x="1702225" y="2409713"/>
            <a:ext cx="2869800" cy="45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Токен, синхронізація, статус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1702225" y="2955063"/>
            <a:ext cx="2869800" cy="45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CSV / XLS / XLSX виписки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8"/>
          <p:cNvSpPr txBox="1"/>
          <p:nvPr>
            <p:ph idx="1" type="body"/>
          </p:nvPr>
        </p:nvSpPr>
        <p:spPr>
          <a:xfrm>
            <a:off x="1702225" y="3500425"/>
            <a:ext cx="2869800" cy="45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Прогноз на 3/6/12 місяців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8B8DF"/>
            </a:gs>
            <a:gs pos="100000">
              <a:srgbClr val="516DB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/>
          <p:nvPr>
            <p:ph idx="1" type="body"/>
          </p:nvPr>
        </p:nvSpPr>
        <p:spPr>
          <a:xfrm>
            <a:off x="489600" y="1094025"/>
            <a:ext cx="3882000" cy="1724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Monobank API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Токен шифрується AES-256-CBC + унікальний IV; зберігається як hex(IV):hex(ciphertext)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 днів = 3 запити </a:t>
            </a:r>
            <a:r>
              <a:rPr lang="uk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31 день з паузою 61 сек (ліміт Monobank 1 запит / 60 сек)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Upsert за externalId — повторна синхронізація ідемпотентна, дублів немає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9"/>
          <p:cNvSpPr txBox="1"/>
          <p:nvPr>
            <p:ph type="title"/>
          </p:nvPr>
        </p:nvSpPr>
        <p:spPr>
          <a:xfrm>
            <a:off x="0" y="0"/>
            <a:ext cx="9144000" cy="818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Ключові модулі системи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9"/>
          <p:cNvSpPr txBox="1"/>
          <p:nvPr>
            <p:ph idx="1" type="body"/>
          </p:nvPr>
        </p:nvSpPr>
        <p:spPr>
          <a:xfrm>
            <a:off x="4939100" y="1094025"/>
            <a:ext cx="3882000" cy="1724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Імпорт CSV / XLS / XLSX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Monobank CSV/XLS (uk + en) та ПриватБанк XLSX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XLS Monobank: блок метаданих клієнта перед таблицею — алгоритм шукає рядок з ≥ 5 стовпців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Нормалізація NFC (кирилиця у XLS = NFD); MD5 (дата+сума+опис) для дедуплікації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19"/>
          <p:cNvSpPr txBox="1"/>
          <p:nvPr>
            <p:ph type="title"/>
          </p:nvPr>
        </p:nvSpPr>
        <p:spPr>
          <a:xfrm>
            <a:off x="4761200" y="1094025"/>
            <a:ext cx="177900" cy="1724100"/>
          </a:xfrm>
          <a:prstGeom prst="rect">
            <a:avLst/>
          </a:prstGeom>
          <a:solidFill>
            <a:srgbClr val="E69138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9"/>
          <p:cNvSpPr txBox="1"/>
          <p:nvPr>
            <p:ph idx="1" type="body"/>
          </p:nvPr>
        </p:nvSpPr>
        <p:spPr>
          <a:xfrm>
            <a:off x="495200" y="3032225"/>
            <a:ext cx="3882000" cy="1724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Telegram-бот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/start &lt;token&gt; — одноразовий 32-hex токен, TTL 15 хв; /subscriptions; /upcoming (7 днів)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Щодня о 09:00 через node-cron: advancePastDates() + сповіщення за N днів до nextBillingDate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Усі рядки екрануються за специфікацією Telegram MarkdownV2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9"/>
          <p:cNvSpPr txBox="1"/>
          <p:nvPr>
            <p:ph idx="1" type="body"/>
          </p:nvPr>
        </p:nvSpPr>
        <p:spPr>
          <a:xfrm>
            <a:off x="4944700" y="3032225"/>
            <a:ext cx="3882000" cy="1724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Прогнозування витрат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Горизонт: 3/6/12 місяців — повний список дат і сум майбутніх списань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Розподіл витрат за валютами у розрізі місяців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Підписки з застарілою nextBillingDate автоматично просуваються вперед щодня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9"/>
          <p:cNvSpPr txBox="1"/>
          <p:nvPr>
            <p:ph type="title"/>
          </p:nvPr>
        </p:nvSpPr>
        <p:spPr>
          <a:xfrm>
            <a:off x="4766800" y="3032225"/>
            <a:ext cx="172200" cy="1724100"/>
          </a:xfrm>
          <a:prstGeom prst="rect">
            <a:avLst/>
          </a:prstGeom>
          <a:solidFill>
            <a:srgbClr val="6AA84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9"/>
          <p:cNvSpPr txBox="1"/>
          <p:nvPr>
            <p:ph type="title"/>
          </p:nvPr>
        </p:nvSpPr>
        <p:spPr>
          <a:xfrm>
            <a:off x="311700" y="1094025"/>
            <a:ext cx="177900" cy="17241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9"/>
          <p:cNvSpPr txBox="1"/>
          <p:nvPr>
            <p:ph type="title"/>
          </p:nvPr>
        </p:nvSpPr>
        <p:spPr>
          <a:xfrm>
            <a:off x="317300" y="3032225"/>
            <a:ext cx="172200" cy="17241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D6CC9"/>
            </a:gs>
            <a:gs pos="100000">
              <a:srgbClr val="2F397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>
            <p:ph idx="1" type="body"/>
          </p:nvPr>
        </p:nvSpPr>
        <p:spPr>
          <a:xfrm>
            <a:off x="311700" y="1516125"/>
            <a:ext cx="1602000" cy="1055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Статистика, найближчі списання, підписки в межах 7 днів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0"/>
          <p:cNvSpPr txBox="1"/>
          <p:nvPr>
            <p:ph type="title"/>
          </p:nvPr>
        </p:nvSpPr>
        <p:spPr>
          <a:xfrm>
            <a:off x="0" y="0"/>
            <a:ext cx="9144000" cy="818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Вебінтерфейс (SPA)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20"/>
          <p:cNvSpPr txBox="1"/>
          <p:nvPr>
            <p:ph type="title"/>
          </p:nvPr>
        </p:nvSpPr>
        <p:spPr>
          <a:xfrm>
            <a:off x="311700" y="1094025"/>
            <a:ext cx="1602000" cy="4221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Огляд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20"/>
          <p:cNvSpPr txBox="1"/>
          <p:nvPr>
            <p:ph idx="1" type="body"/>
          </p:nvPr>
        </p:nvSpPr>
        <p:spPr>
          <a:xfrm>
            <a:off x="2044588" y="1516125"/>
            <a:ext cx="1602000" cy="1055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CRUD, фільтрація за статусом та категорією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20"/>
          <p:cNvSpPr txBox="1"/>
          <p:nvPr>
            <p:ph type="title"/>
          </p:nvPr>
        </p:nvSpPr>
        <p:spPr>
          <a:xfrm>
            <a:off x="2044591" y="1094025"/>
            <a:ext cx="1602000" cy="4221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Підписки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20"/>
          <p:cNvSpPr txBox="1"/>
          <p:nvPr>
            <p:ph idx="1" type="body"/>
          </p:nvPr>
        </p:nvSpPr>
        <p:spPr>
          <a:xfrm>
            <a:off x="3777476" y="1516125"/>
            <a:ext cx="1602000" cy="1055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3/6/12 місяців, розподіл по валютах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0"/>
          <p:cNvSpPr txBox="1"/>
          <p:nvPr>
            <p:ph type="title"/>
          </p:nvPr>
        </p:nvSpPr>
        <p:spPr>
          <a:xfrm>
            <a:off x="3777482" y="1094025"/>
            <a:ext cx="1602000" cy="422100"/>
          </a:xfrm>
          <a:prstGeom prst="rect">
            <a:avLst/>
          </a:prstGeom>
          <a:solidFill>
            <a:srgbClr val="6AA84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Прогноз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0"/>
          <p:cNvSpPr txBox="1"/>
          <p:nvPr>
            <p:ph idx="1" type="body"/>
          </p:nvPr>
        </p:nvSpPr>
        <p:spPr>
          <a:xfrm>
            <a:off x="5510364" y="1516125"/>
            <a:ext cx="1602000" cy="1055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Файли Monobank, ПриватБанку, Monobank API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0"/>
          <p:cNvSpPr txBox="1"/>
          <p:nvPr>
            <p:ph type="title"/>
          </p:nvPr>
        </p:nvSpPr>
        <p:spPr>
          <a:xfrm>
            <a:off x="5510372" y="1094025"/>
            <a:ext cx="1602000" cy="422100"/>
          </a:xfrm>
          <a:prstGeom prst="rect">
            <a:avLst/>
          </a:prstGeom>
          <a:solidFill>
            <a:srgbClr val="E69138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Імпорт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0"/>
          <p:cNvSpPr txBox="1"/>
          <p:nvPr>
            <p:ph idx="1" type="body"/>
          </p:nvPr>
        </p:nvSpPr>
        <p:spPr>
          <a:xfrm>
            <a:off x="7243250" y="1516125"/>
            <a:ext cx="1602000" cy="1055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Telegram, нагадування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0"/>
          <p:cNvSpPr txBox="1"/>
          <p:nvPr>
            <p:ph type="title"/>
          </p:nvPr>
        </p:nvSpPr>
        <p:spPr>
          <a:xfrm>
            <a:off x="7243262" y="1094025"/>
            <a:ext cx="1602000" cy="422100"/>
          </a:xfrm>
          <a:prstGeom prst="rect">
            <a:avLst/>
          </a:prstGeom>
          <a:solidFill>
            <a:srgbClr val="674EA7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Налаштування</a:t>
            </a:r>
            <a:endParaRPr b="1"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151" y="2781025"/>
            <a:ext cx="6397701" cy="21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 txBox="1"/>
          <p:nvPr>
            <p:ph type="title"/>
          </p:nvPr>
        </p:nvSpPr>
        <p:spPr>
          <a:xfrm>
            <a:off x="0" y="0"/>
            <a:ext cx="9144000" cy="818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Безпека та тестування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11725" y="918825"/>
            <a:ext cx="4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Захист даних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724975" y="918825"/>
            <a:ext cx="4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Тестування (ручне, curl + браузер)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1"/>
          <p:cNvSpPr txBox="1"/>
          <p:nvPr>
            <p:ph idx="1" type="body"/>
          </p:nvPr>
        </p:nvSpPr>
        <p:spPr>
          <a:xfrm>
            <a:off x="333475" y="1319025"/>
            <a:ext cx="1154700" cy="537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bcrypt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1"/>
          <p:cNvSpPr txBox="1"/>
          <p:nvPr>
            <p:ph idx="1" type="body"/>
          </p:nvPr>
        </p:nvSpPr>
        <p:spPr>
          <a:xfrm>
            <a:off x="333475" y="2001342"/>
            <a:ext cx="1154700" cy="5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AES-256-CBC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1"/>
          <p:cNvSpPr txBox="1"/>
          <p:nvPr>
            <p:ph idx="1" type="body"/>
          </p:nvPr>
        </p:nvSpPr>
        <p:spPr>
          <a:xfrm>
            <a:off x="333475" y="2683659"/>
            <a:ext cx="1154700" cy="537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 + tokenVersion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1"/>
          <p:cNvSpPr txBox="1"/>
          <p:nvPr>
            <p:ph idx="1" type="body"/>
          </p:nvPr>
        </p:nvSpPr>
        <p:spPr>
          <a:xfrm>
            <a:off x="333475" y="3365956"/>
            <a:ext cx="1154700" cy="5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 limiting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1"/>
          <p:cNvSpPr txBox="1"/>
          <p:nvPr>
            <p:ph idx="1" type="body"/>
          </p:nvPr>
        </p:nvSpPr>
        <p:spPr>
          <a:xfrm>
            <a:off x="333475" y="4048275"/>
            <a:ext cx="1154700" cy="537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IDOR-захист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1"/>
          <p:cNvSpPr txBox="1"/>
          <p:nvPr>
            <p:ph idx="1" type="body"/>
          </p:nvPr>
        </p:nvSpPr>
        <p:spPr>
          <a:xfrm>
            <a:off x="4746725" y="1319025"/>
            <a:ext cx="3992100" cy="326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Реєстрація: відхилення невалідних email та коротких паролів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JWT: без токена — 401; з відкликаним токеном — 401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Імпорт 4 форматів: Monobank API / CSV / XLS (uk/en), ПриватБанк XLSX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Детекція підписок та calcNextBillingDate для всіх циклів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Telegram: одноразовий токен, /subscriptions, /upcoming, MarkdownV2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 limit: &gt; 10 запитів на /login за 15 хв — HTTP 429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Повторний імпорт того самого файлу — дублів немає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21"/>
          <p:cNvSpPr txBox="1"/>
          <p:nvPr>
            <p:ph idx="1" type="body"/>
          </p:nvPr>
        </p:nvSpPr>
        <p:spPr>
          <a:xfrm>
            <a:off x="1488175" y="1319025"/>
            <a:ext cx="2859300" cy="537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Паролі, salt-фактор 12 (OWASP)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1"/>
          <p:cNvSpPr txBox="1"/>
          <p:nvPr>
            <p:ph idx="1" type="body"/>
          </p:nvPr>
        </p:nvSpPr>
        <p:spPr>
          <a:xfrm>
            <a:off x="1488175" y="2001342"/>
            <a:ext cx="2859300" cy="5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Токен Monobank + унікальний IV для кожного шифрування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1"/>
          <p:cNvSpPr txBox="1"/>
          <p:nvPr>
            <p:ph idx="1" type="body"/>
          </p:nvPr>
        </p:nvSpPr>
        <p:spPr>
          <a:xfrm>
            <a:off x="1488175" y="2683659"/>
            <a:ext cx="2859300" cy="537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Примусове 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відкликання</a:t>
            </a: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всіх сесій через POST /revoke-tokens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21"/>
          <p:cNvSpPr txBox="1"/>
          <p:nvPr>
            <p:ph idx="1" type="body"/>
          </p:nvPr>
        </p:nvSpPr>
        <p:spPr>
          <a:xfrm>
            <a:off x="1488175" y="3365956"/>
            <a:ext cx="2859300" cy="5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спроб  / 15 хв на auth; 		         3 запити / 10 хв на sync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1"/>
          <p:cNvSpPr txBox="1"/>
          <p:nvPr>
            <p:ph idx="1" type="body"/>
          </p:nvPr>
        </p:nvSpPr>
        <p:spPr>
          <a:xfrm>
            <a:off x="1488175" y="4048275"/>
            <a:ext cx="2859300" cy="537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userId береться з req.user (JWT), не з тіла запиту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D6CC9"/>
            </a:gs>
            <a:gs pos="100000">
              <a:srgbClr val="2F397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>
            <p:ph idx="1" type="body"/>
          </p:nvPr>
        </p:nvSpPr>
        <p:spPr>
          <a:xfrm>
            <a:off x="311700" y="1078975"/>
            <a:ext cx="1724400" cy="855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REST-маршрутів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2"/>
          <p:cNvSpPr txBox="1"/>
          <p:nvPr>
            <p:ph type="title"/>
          </p:nvPr>
        </p:nvSpPr>
        <p:spPr>
          <a:xfrm>
            <a:off x="0" y="0"/>
            <a:ext cx="9144000" cy="818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Висновки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22"/>
          <p:cNvSpPr txBox="1"/>
          <p:nvPr>
            <p:ph idx="2" type="body"/>
          </p:nvPr>
        </p:nvSpPr>
        <p:spPr>
          <a:xfrm>
            <a:off x="311700" y="4008775"/>
            <a:ext cx="8520600" cy="7161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Практична цінність: єдиний безкоштовний вебзастосунок, адаптований до українського ринку — автодетекція підписок через відкритий Monobank API + ручний облік в єдиному інтерфейсі. Перспективи: автотести (Jest); Redis; стандарт відкритого банкінгу НБ</a:t>
            </a: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У;</a:t>
            </a: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мобільний клієнт.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2"/>
          <p:cNvSpPr txBox="1"/>
          <p:nvPr>
            <p:ph idx="1" type="body"/>
          </p:nvPr>
        </p:nvSpPr>
        <p:spPr>
          <a:xfrm>
            <a:off x="4810801" y="1078975"/>
            <a:ext cx="1724400" cy="855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формати імпорту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7037250" y="1078975"/>
            <a:ext cx="1724400" cy="855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міс.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горизонт прогнозу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2"/>
          <p:cNvSpPr txBox="1"/>
          <p:nvPr>
            <p:ph idx="1" type="body"/>
          </p:nvPr>
        </p:nvSpPr>
        <p:spPr>
          <a:xfrm>
            <a:off x="311700" y="1934575"/>
            <a:ext cx="8450100" cy="2074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Що реалізовано?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Алгоритм детекції підписок: MCC-коди + назви сервісів + аналіз інтервалів; виключення посередників та разових платежів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Monobank API (синхронізація 90 днів, AES-256 токен) + імпорт CSV/XLS/XLSX Monobank та ПриватБанку з авто-визначенням формату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Telegram-бот (long polling) + щоденний cron-планувальник + прогноз витрат на 3/6/12 місяців з розподілом за валютами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Захист AES-256-CBC, bcrypt (salt 12), JWT + tokenVersion, rate limiting (auth + sync), IDOR-захист на всіх маршрутах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2"/>
          <p:cNvSpPr txBox="1"/>
          <p:nvPr>
            <p:ph idx="1" type="body"/>
          </p:nvPr>
        </p:nvSpPr>
        <p:spPr>
          <a:xfrm>
            <a:off x="2538148" y="1078975"/>
            <a:ext cx="1724400" cy="855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колекції MongoDB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